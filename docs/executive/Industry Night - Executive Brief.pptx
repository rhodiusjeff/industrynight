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INDUSTRY NIGHT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2800" b="0">
                <a:solidFill>
                  <a:srgbClr val="A296F0"/>
                </a:solidFill>
                <a:latin typeface="Calibri"/>
              </a:defRPr>
            </a:pPr>
            <a:r>
              <a:t>Executive Brief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383280"/>
            <a:ext cx="3657600" cy="254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March 02, 2026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888899"/>
                </a:solidFill>
                <a:latin typeface="Calibri"/>
              </a:defRPr>
            </a:pPr>
            <a:r>
              <a:t>Project Inception through Week 3</a:t>
            </a:r>
          </a:p>
          <a:p>
            <a:pPr algn="l">
              <a:spcBef>
                <a:spcPts val="2000"/>
              </a:spcBef>
              <a:spcAft>
                <a:spcPts val="200"/>
              </a:spcAft>
              <a:defRPr sz="1200" b="0">
                <a:solidFill>
                  <a:srgbClr val="888899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Is Industry Night?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Event-first social network for creative professionals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296F0"/>
                </a:solidFill>
                <a:latin typeface="Calibri"/>
              </a:defRPr>
            </a:pPr>
            <a:r>
              <a:t>The Problem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Creative professionals (stylists, makeup artists, photographers, videographers) lack a purpose-built networking platform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Existing tools are generic (Meetup, Eventbrite) or portfolio-focused (Behance)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No platform ties event attendance to verified community membership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1">
                <a:solidFill>
                  <a:srgbClr val="A296F0"/>
                </a:solidFill>
                <a:latin typeface="Calibri"/>
              </a:defRPr>
            </a:pPr>
            <a:r>
              <a:t>The Solution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Open registration with verification earned through real-world actions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QR-code networking at events creates instant, mutual connections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Verification through attendance builds trust and authenticity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Two apps: Social (for creatives) + Admin (for operators)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03520" cy="20116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28600" wrap="square"/>
          <a:lstStyle/>
          <a:p>
            <a:pPr algn="l">
              <a:defRPr sz="1800" b="1">
                <a:solidFill>
                  <a:srgbClr val="A296F0"/>
                </a:solidFill>
                <a:latin typeface="Calibri"/>
              </a:defRPr>
            </a:pPr>
            <a:r>
              <a:t>Social App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Target:  Creative professionals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Platforms:  iOS, Android, Web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Purpose:  Attend events, QR networking, community feed, perks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749039"/>
            <a:ext cx="5303520" cy="20116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28600" wrap="square"/>
          <a:lstStyle/>
          <a:p>
            <a:pPr algn="l">
              <a:defRPr sz="1800" b="1">
                <a:solidFill>
                  <a:srgbClr val="A296F0"/>
                </a:solidFill>
                <a:latin typeface="Calibri"/>
              </a:defRPr>
            </a:pPr>
            <a:r>
              <a:t>Admin App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Target:  Platform operators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Platforms:  Web, iOS, Android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Purpose:  Manage events, users, tickets, sponsors, moderation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Open registration to verified community member</a:t>
            </a:r>
          </a:p>
        </p:txBody>
      </p:sp>
      <p:sp>
        <p:nvSpPr>
          <p:cNvPr id="5" name="Oval 4"/>
          <p:cNvSpPr/>
          <p:nvPr/>
        </p:nvSpPr>
        <p:spPr>
          <a:xfrm>
            <a:off x="1234440" y="1554480"/>
            <a:ext cx="502920" cy="50292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783080" y="1783080"/>
            <a:ext cx="1737360" cy="254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Register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2011680" cy="16459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37160"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Download app</a:t>
            </a:r>
            <a:br/>
            <a:r>
              <a:t>SMS phone login</a:t>
            </a:r>
            <a:br/>
            <a:r>
              <a:t>No password needed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Set up profile</a:t>
            </a:r>
            <a:br/>
            <a:r>
              <a:t>with specialties</a:t>
            </a:r>
          </a:p>
        </p:txBody>
      </p:sp>
      <p:sp>
        <p:nvSpPr>
          <p:cNvPr id="9" name="Oval 8"/>
          <p:cNvSpPr/>
          <p:nvPr/>
        </p:nvSpPr>
        <p:spPr>
          <a:xfrm>
            <a:off x="3520440" y="1554480"/>
            <a:ext cx="502920" cy="50292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9080" y="1783080"/>
            <a:ext cx="1737360" cy="254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2194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Get Ticket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2651760"/>
            <a:ext cx="2011680" cy="16459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37160"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Purchase on Posh.vip</a:t>
            </a:r>
            <a:br/>
            <a:r>
              <a:t>or admin-issued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Auto-linked to</a:t>
            </a:r>
            <a:br/>
            <a:r>
              <a:t>account by phone</a:t>
            </a:r>
          </a:p>
        </p:txBody>
      </p:sp>
      <p:sp>
        <p:nvSpPr>
          <p:cNvPr id="13" name="Oval 12"/>
          <p:cNvSpPr/>
          <p:nvPr/>
        </p:nvSpPr>
        <p:spPr>
          <a:xfrm>
            <a:off x="5806440" y="1554480"/>
            <a:ext cx="502920" cy="50292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783080"/>
            <a:ext cx="1737360" cy="254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2194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Attend Event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2651760"/>
            <a:ext cx="2011680" cy="16459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37160"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Door staff gives</a:t>
            </a:r>
            <a:br/>
            <a:r>
              <a:t>4-digit activation code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Check in via</a:t>
            </a:r>
            <a:br/>
            <a:r>
              <a:t>app (code + ticket)</a:t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1554480"/>
            <a:ext cx="502920" cy="50292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41080" y="1783080"/>
            <a:ext cx="1737360" cy="254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2194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Connect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2651760"/>
            <a:ext cx="2011680" cy="16459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37160"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Scan QR codes for</a:t>
            </a:r>
            <a:br/>
            <a:r>
              <a:t>instant connections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First connection =</a:t>
            </a:r>
            <a:br/>
            <a:r>
              <a:t>Verified status</a:t>
            </a:r>
          </a:p>
        </p:txBody>
      </p:sp>
      <p:sp>
        <p:nvSpPr>
          <p:cNvPr id="21" name="Oval 20"/>
          <p:cNvSpPr/>
          <p:nvPr/>
        </p:nvSpPr>
        <p:spPr>
          <a:xfrm>
            <a:off x="10378440" y="1554480"/>
            <a:ext cx="502920" cy="50292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194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Full Access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92640" y="2651760"/>
            <a:ext cx="2011680" cy="16459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37160"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Community board,</a:t>
            </a:r>
            <a:br/>
            <a:r>
              <a:t>sponsor perks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Networking persists</a:t>
            </a:r>
            <a:br/>
            <a:r>
              <a:t>across events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18 days from first commit to full-stack working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91840"/>
            <a:ext cx="1005840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3154680"/>
            <a:ext cx="320040" cy="32004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296F0"/>
                </a:solidFill>
                <a:latin typeface="Calibri"/>
              </a:defRPr>
            </a:pPr>
            <a:r>
              <a:t>Feb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Requirements</a:t>
            </a:r>
            <a:br/>
            <a:r>
              <a:t>Finalized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1828800" cy="14630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Product requirements</a:t>
            </a:r>
            <a:br/>
            <a:r>
              <a:t>document v1.8</a:t>
            </a:r>
          </a:p>
        </p:txBody>
      </p:sp>
      <p:sp>
        <p:nvSpPr>
          <p:cNvPr id="10" name="Oval 9"/>
          <p:cNvSpPr/>
          <p:nvPr/>
        </p:nvSpPr>
        <p:spPr>
          <a:xfrm>
            <a:off x="3749040" y="3154680"/>
            <a:ext cx="320040" cy="32004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2103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296F0"/>
                </a:solidFill>
                <a:latin typeface="Calibri"/>
              </a:defRPr>
            </a:pPr>
            <a:r>
              <a:t>Feb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4231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Initial</a:t>
            </a:r>
            <a:br/>
            <a:r>
              <a:t>Commit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3749039"/>
            <a:ext cx="1828800" cy="14630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Project scaffolded,</a:t>
            </a:r>
            <a:br/>
            <a:r>
              <a:t>monorepo structure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0" y="3154680"/>
            <a:ext cx="320040" cy="32004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2103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296F0"/>
                </a:solidFill>
                <a:latin typeface="Calibri"/>
              </a:defRPr>
            </a:pPr>
            <a:r>
              <a:t>Feb 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4231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Infrastructure</a:t>
            </a:r>
            <a:br/>
            <a:r>
              <a:t>Laydown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60" y="3749039"/>
            <a:ext cx="1828800" cy="14630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AWS EKS, domain</a:t>
            </a:r>
            <a:br/>
            <a:r>
              <a:t>migration, ops tooling</a:t>
            </a:r>
          </a:p>
        </p:txBody>
      </p:sp>
      <p:sp>
        <p:nvSpPr>
          <p:cNvPr id="18" name="Oval 17"/>
          <p:cNvSpPr/>
          <p:nvPr/>
        </p:nvSpPr>
        <p:spPr>
          <a:xfrm>
            <a:off x="8503920" y="3154680"/>
            <a:ext cx="320040" cy="32004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2103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296F0"/>
                </a:solidFill>
                <a:latin typeface="Calibri"/>
              </a:defRPr>
            </a:pPr>
            <a:r>
              <a:t>Feb 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4231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Foundation</a:t>
            </a:r>
            <a:br/>
            <a:r>
              <a:t>Complete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3749039"/>
            <a:ext cx="1828800" cy="14630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PR #1 merged,</a:t>
            </a:r>
            <a:br/>
            <a:r>
              <a:t>admin auth working</a:t>
            </a:r>
          </a:p>
        </p:txBody>
      </p:sp>
      <p:sp>
        <p:nvSpPr>
          <p:cNvPr id="22" name="Oval 21"/>
          <p:cNvSpPr/>
          <p:nvPr/>
        </p:nvSpPr>
        <p:spPr>
          <a:xfrm>
            <a:off x="10881360" y="3154680"/>
            <a:ext cx="320040" cy="32004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0" y="2103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296F0"/>
                </a:solidFill>
                <a:latin typeface="Calibri"/>
              </a:defRPr>
            </a:pPr>
            <a:r>
              <a:t>Mar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24231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Full Stack</a:t>
            </a:r>
            <a:br/>
            <a:r>
              <a:t>Working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49840" y="3749039"/>
            <a:ext cx="1828800" cy="14630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QR connections,</a:t>
            </a:r>
            <a:br/>
            <a:r>
              <a:t>tickets, check-in,</a:t>
            </a:r>
            <a:br/>
            <a:r>
              <a:t>adversarial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Codebase at a Glance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92024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wrap="square"/>
          <a:lstStyle/>
          <a:p>
            <a:pPr algn="l">
              <a:defRPr sz="3200" b="1">
                <a:solidFill>
                  <a:srgbClr val="6C5CE7"/>
                </a:solidFill>
                <a:latin typeface="Calibri"/>
              </a:defRPr>
            </a:pPr>
            <a:r>
              <a:t>~17,000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Lines of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463040"/>
            <a:ext cx="192024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wrap="square"/>
          <a:lstStyle/>
          <a:p>
            <a:pPr algn="l">
              <a:defRPr sz="3200" b="1">
                <a:solidFill>
                  <a:srgbClr val="6C5CE7"/>
                </a:solidFill>
                <a:latin typeface="Calibri"/>
              </a:defRPr>
            </a:pPr>
            <a:r>
              <a:t>120+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Source Files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463040"/>
            <a:ext cx="192024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wrap="square"/>
          <a:lstStyle/>
          <a:p>
            <a:pPr algn="l">
              <a:defRPr sz="3200" b="1">
                <a:solidFill>
                  <a:srgbClr val="6C5CE7"/>
                </a:solidFill>
                <a:latin typeface="Calibri"/>
              </a:defRPr>
            </a:pPr>
            <a:r>
              <a:t>22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Database Tables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463040"/>
            <a:ext cx="192024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wrap="square"/>
          <a:lstStyle/>
          <a:p>
            <a:pPr algn="l">
              <a:defRPr sz="3200" b="1">
                <a:solidFill>
                  <a:srgbClr val="6C5CE7"/>
                </a:solidFill>
                <a:latin typeface="Calibri"/>
              </a:defRPr>
            </a:pPr>
            <a:r>
              <a:t>35+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App Screens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0" y="1463040"/>
            <a:ext cx="192024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wrap="square"/>
          <a:lstStyle/>
          <a:p>
            <a:pPr algn="l">
              <a:defRPr sz="3200" b="1">
                <a:solidFill>
                  <a:srgbClr val="6C5CE7"/>
                </a:solidFill>
                <a:latin typeface="Calibri"/>
              </a:defRPr>
            </a:pPr>
            <a:r>
              <a:t>11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API Route Modules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26080"/>
            <a:ext cx="192024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wrap="square"/>
          <a:lstStyle/>
          <a:p>
            <a:pPr algn="l">
              <a:defRPr sz="3200" b="1">
                <a:solidFill>
                  <a:srgbClr val="00B894"/>
                </a:solidFill>
                <a:latin typeface="Calibri"/>
              </a:defRPr>
            </a:pPr>
            <a:r>
              <a:t>9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Data 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2926080"/>
            <a:ext cx="192024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wrap="square"/>
          <a:lstStyle/>
          <a:p>
            <a:pPr algn="l">
              <a:defRPr sz="3200" b="1">
                <a:solidFill>
                  <a:srgbClr val="00B894"/>
                </a:solidFill>
                <a:latin typeface="Calibri"/>
              </a:defRPr>
            </a:pPr>
            <a:r>
              <a:t>7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API Clients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2926080"/>
            <a:ext cx="192024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wrap="square"/>
          <a:lstStyle/>
          <a:p>
            <a:pPr algn="l">
              <a:defRPr sz="3200" b="1">
                <a:solidFill>
                  <a:srgbClr val="00B894"/>
                </a:solidFill>
                <a:latin typeface="Calibri"/>
              </a:defRPr>
            </a:pPr>
            <a:r>
              <a:t>20+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Git Commits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2926080"/>
            <a:ext cx="192024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wrap="square"/>
          <a:lstStyle/>
          <a:p>
            <a:pPr algn="l">
              <a:defRPr sz="3200" b="1">
                <a:solidFill>
                  <a:srgbClr val="00B894"/>
                </a:solidFill>
                <a:latin typeface="Calibri"/>
              </a:defRPr>
            </a:pPr>
            <a:r>
              <a:t>15+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Operational Scripts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4480560"/>
          <a:ext cx="5943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1371600"/>
              </a:tblGrid>
              <a:tr h="2926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Lines of Code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Files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Backend API (TypeScript)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~2,500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25+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Flutter Apps + Shared (Dart)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~11,000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70+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Database (SQL)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700+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Scripts (JS + Bash + Python)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3,000+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20+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Infrastructure (YAML)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250+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Has Been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Backend API + Database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86400" cy="47548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28600" wrap="square"/>
          <a:lstStyle/>
          <a:p>
            <a:pPr algn="l">
              <a:defRPr sz="1600" b="1">
                <a:solidFill>
                  <a:srgbClr val="A296F0"/>
                </a:solidFill>
                <a:latin typeface="Calibri"/>
              </a:defRPr>
            </a:pPr>
            <a:r>
              <a:t>Backend API  (Node.js / Express / TypeScript)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11 route modules: auth, users, events, connections, posts, sponsors, vendors, discounts, webhooks, admin, admin-auth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4 middleware layers: JWT auth, admin auth (token family separation), role-based access, Zod validation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3 service integrations: Twilio SMS/Verify, AWS SES email, Posh.vip webhooks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JWT dual-auth: separate social and admin token families prevent cross-app token reuse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S3 image upload with public CDN URLs (event images, future: profile photos)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Auto-refresh tokens (15 min access + long-lived refresh)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63040"/>
            <a:ext cx="5212080" cy="47548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28600" wrap="square"/>
          <a:lstStyle/>
          <a:p>
            <a:pPr algn="l">
              <a:defRPr sz="1600" b="1">
                <a:solidFill>
                  <a:srgbClr val="A296F0"/>
                </a:solidFill>
                <a:latin typeface="Calibri"/>
              </a:defRPr>
            </a:pPr>
            <a:r>
              <a:t>Database  (PostgreSQL 15 on RDS)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22 tables across 4 migrations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Core: users, admin_users, events, tickets, posh_orders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Social: connections, posts, comments, likes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Business: sponsors, vendors, discounts, event_sponsors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Media: event_images (up to 5 per event, hero image system)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Operations: audit log, analytics tables, GDPR export tracking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CASCADE delete design with audit log preservation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Has Been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Social App + Admin App + Shared Package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657600" cy="47548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28600" wrap="square"/>
          <a:lstStyle/>
          <a:p>
            <a:pPr algn="l">
              <a:defRPr sz="1500" b="1">
                <a:solidFill>
                  <a:srgbClr val="A296F0"/>
                </a:solidFill>
                <a:latin typeface="Calibri"/>
              </a:defRPr>
            </a:pPr>
            <a:r>
              <a:t>Social App  (Flutter/Dart)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19+ screens, 8 feature modules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Auth: phone entry + SMS verify + remember-me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Events: browse, detail, tickets, check-in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Networking: QR display, scanner, instant connect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Real-time connection notifications (polling)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Celebration overlay on new connections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Profile: view, edit, settings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Community feed, search, perks (UI built, wiring pending)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463040"/>
            <a:ext cx="3657600" cy="47548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28600" wrap="square"/>
          <a:lstStyle/>
          <a:p>
            <a:pPr algn="l">
              <a:defRPr sz="1500" b="1">
                <a:solidFill>
                  <a:srgbClr val="A296F0"/>
                </a:solidFill>
                <a:latin typeface="Calibri"/>
              </a:defRPr>
            </a:pPr>
            <a:r>
              <a:t>Admin App  (Flutter/Dart)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16+ screens, 7 feature modules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Auth: email/password admin login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Dashboard: stats overview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Users: list, detail, add, manage tickets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Events: full lifecycle + image management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Publish gate: Posh ID + venue + images required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Sponsors: link to events, discount management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Global image catalog with bulk operations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463040"/>
            <a:ext cx="3200400" cy="47548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28600" wrap="square"/>
          <a:lstStyle/>
          <a:p>
            <a:pPr algn="l">
              <a:defRPr sz="1500" b="1">
                <a:solidFill>
                  <a:srgbClr val="A296F0"/>
                </a:solidFill>
                <a:latin typeface="Calibri"/>
              </a:defRPr>
            </a:pPr>
            <a:r>
              <a:t>Shared Package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Reused by both apps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9 data models with JSON serialization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7 API clients (base HTTP + typed endpoints)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Secure token storage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Phone validators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Display formatters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Constants / enums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Infrastructure &amp;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AWS EKS + Kubernetes + operational tooling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27432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28600" wrap="square"/>
          <a:lstStyle/>
          <a:p>
            <a:pPr algn="l">
              <a:defRPr sz="1600" b="1">
                <a:solidFill>
                  <a:srgbClr val="A296F0"/>
                </a:solidFill>
                <a:latin typeface="Calibri"/>
              </a:defRPr>
            </a:pPr>
            <a:r>
              <a:t>Cloud Infrastructure  (AWS)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EKS cluster (us-east-1) with auto-scaling 2-10 pods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Kubernetes: deployment, service, ingress, secrets, HPA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SSL/TLS via ACM on api.industrynight.net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ECR container registry with Docker build pipeline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RDS PostgreSQL 15 (force SSL, automated backups)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S3 bucket for event images (public-read ACL)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03520" cy="27432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28600" wrap="square"/>
          <a:lstStyle/>
          <a:p>
            <a:pPr algn="l">
              <a:defRPr sz="1600" b="1">
                <a:solidFill>
                  <a:srgbClr val="A296F0"/>
                </a:solidFill>
                <a:latin typeface="Calibri"/>
              </a:defRPr>
            </a:pPr>
            <a:r>
              <a:t>COOP System  (Cost Optimization)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Full teardown: EKS + RDS removed, data preserved in S3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Full rebuild: infra recreated from scratch + data restored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Database backup/restore via pg_dump (full + per-table)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Single entry point: scripts/coop/coop.sh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192024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wrap="square"/>
          <a:lstStyle/>
          <a:p>
            <a:pPr algn="l">
              <a:defRPr sz="3200" b="1">
                <a:solidFill>
                  <a:srgbClr val="FDCB6E"/>
                </a:solidFill>
                <a:latin typeface="Calibri"/>
              </a:defRPr>
            </a:pPr>
            <a:r>
              <a:t>~$160/mo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Full Running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4572000"/>
            <a:ext cx="192024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wrap="square"/>
          <a:lstStyle/>
          <a:p>
            <a:pPr algn="l">
              <a:defRPr sz="3200" b="1">
                <a:solidFill>
                  <a:srgbClr val="00B894"/>
                </a:solidFill>
                <a:latin typeface="Calibri"/>
              </a:defRPr>
            </a:pPr>
            <a:r>
              <a:t>~$3/mo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Hibernated (COOP)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4572000"/>
            <a:ext cx="6400800" cy="16459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228600" wrap="square"/>
          <a:lstStyle/>
          <a:p>
            <a:pPr algn="l">
              <a:defRPr sz="1400" b="1">
                <a:solidFill>
                  <a:srgbClr val="A296F0"/>
                </a:solidFill>
                <a:latin typeface="Calibri"/>
              </a:defRPr>
            </a:pPr>
            <a:r>
              <a:t>Operational Scripts (15+)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seed-admin.js, migrate.js, db-reset.js, db-scrub-user.js (GDPR)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deploy-api.sh, maintenance.sh, setup-local.sh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COOP: status, teardown, rebuild, export, import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generate-exec-brief.py, generate-exec-summary.py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Architecture Decisions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80467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347472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Choice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Rationale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Registration model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Open registration + verification ladder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Events list is marketing funnel; trust earned through attendance + connections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 (social)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Phone + SMS OTP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Passwordless, phone-based identity for creatives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 (admin)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Email + password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Separate admin_users table, separate token family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Mobile framework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Flutter/Dart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Single codebase for iOS, Android, Web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Ticketing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Posh.vip (webhooks) + admin-issued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Existing brand presence; auto-link by phone on registration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QR networking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Instant mutual connection (no request/accept)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Reduces friction; trust earned through physical co-presence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Orchestration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AWS EKS (Kubernetes)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Scalability, infrastructure learning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State mgmt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Provider + ChangeNotifier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Simple, sufficient for current scope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mgmt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COOP teardown/rebuild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Reduce AWS spend during downtime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Implementation Status vs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5486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37160" wrap="square"/>
          <a:lstStyle/>
          <a:p>
            <a:pPr algn="ctr">
              <a:defRPr sz="1200">
                <a:latin typeface="Calibri"/>
              </a:defRPr>
            </a:pPr>
            <a:r>
              <a:rPr sz="1100" b="1">
                <a:solidFill>
                  <a:srgbClr val="888899"/>
                </a:solidFill>
                <a:latin typeface="Calibri"/>
              </a:rPr>
              <a:t>  1A  </a:t>
            </a:r>
            <a:r>
              <a:rPr sz="1200">
                <a:solidFill>
                  <a:srgbClr val="FFFFFF"/>
                </a:solidFill>
                <a:latin typeface="Calibri"/>
              </a:rPr>
              <a:t>  Foundation (Backend + Auth)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554480"/>
            <a:ext cx="1188720" cy="347472"/>
          </a:xfrm>
          <a:prstGeom prst="round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wrap="square"/>
          <a:lstStyle/>
          <a:p>
            <a:pPr algn="ctr">
              <a:defRPr sz="900" b="1">
                <a:solidFill>
                  <a:srgbClr val="121222"/>
                </a:solidFill>
                <a:latin typeface="Calibri"/>
              </a:defRPr>
            </a:pPr>
            <a:r>
              <a:t>Complete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30552"/>
            <a:ext cx="5303520" cy="5486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37160" wrap="square"/>
          <a:lstStyle/>
          <a:p>
            <a:pPr algn="ctr">
              <a:defRPr sz="1200">
                <a:latin typeface="Calibri"/>
              </a:defRPr>
            </a:pPr>
            <a:r>
              <a:rPr sz="1100" b="1">
                <a:solidFill>
                  <a:srgbClr val="888899"/>
                </a:solidFill>
                <a:latin typeface="Calibri"/>
              </a:rPr>
              <a:t>  1B  </a:t>
            </a:r>
            <a:r>
              <a:rPr sz="1200">
                <a:solidFill>
                  <a:srgbClr val="FFFFFF"/>
                </a:solidFill>
                <a:latin typeface="Calibri"/>
              </a:rPr>
              <a:t>  Core Mobile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221992"/>
            <a:ext cx="1188720" cy="347472"/>
          </a:xfrm>
          <a:prstGeom prst="round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wrap="square"/>
          <a:lstStyle/>
          <a:p>
            <a:pPr algn="ctr">
              <a:defRPr sz="900" b="1">
                <a:solidFill>
                  <a:srgbClr val="121222"/>
                </a:solidFill>
                <a:latin typeface="Calibri"/>
              </a:defRPr>
            </a:pPr>
            <a:r>
              <a:t>Complete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98064"/>
            <a:ext cx="5303520" cy="5486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37160" wrap="square"/>
          <a:lstStyle/>
          <a:p>
            <a:pPr algn="ctr">
              <a:defRPr sz="1200">
                <a:latin typeface="Calibri"/>
              </a:defRPr>
            </a:pPr>
            <a:r>
              <a:rPr sz="1100" b="1">
                <a:solidFill>
                  <a:srgbClr val="888899"/>
                </a:solidFill>
                <a:latin typeface="Calibri"/>
              </a:rPr>
              <a:t>  1C  </a:t>
            </a:r>
            <a:r>
              <a:rPr sz="1200">
                <a:solidFill>
                  <a:srgbClr val="FFFFFF"/>
                </a:solidFill>
                <a:latin typeface="Calibri"/>
              </a:rPr>
              <a:t>  Verification &amp; QR Networking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889504"/>
            <a:ext cx="1188720" cy="347472"/>
          </a:xfrm>
          <a:prstGeom prst="round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wrap="square"/>
          <a:lstStyle/>
          <a:p>
            <a:pPr algn="ctr">
              <a:defRPr sz="900" b="1">
                <a:solidFill>
                  <a:srgbClr val="121222"/>
                </a:solidFill>
                <a:latin typeface="Calibri"/>
              </a:defRPr>
            </a:pPr>
            <a:r>
              <a:t>Complete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65576"/>
            <a:ext cx="5303520" cy="5486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37160" wrap="square"/>
          <a:lstStyle/>
          <a:p>
            <a:pPr algn="ctr">
              <a:defRPr sz="1200">
                <a:latin typeface="Calibri"/>
              </a:defRPr>
            </a:pPr>
            <a:r>
              <a:rPr sz="1100" b="1">
                <a:solidFill>
                  <a:srgbClr val="888899"/>
                </a:solidFill>
                <a:latin typeface="Calibri"/>
              </a:rPr>
              <a:t>  1D  </a:t>
            </a:r>
            <a:r>
              <a:rPr sz="1200">
                <a:solidFill>
                  <a:srgbClr val="FFFFFF"/>
                </a:solidFill>
                <a:latin typeface="Calibri"/>
              </a:rPr>
              <a:t>  Event Social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557016"/>
            <a:ext cx="1188720" cy="347472"/>
          </a:xfrm>
          <a:prstGeom prst="roundRect">
            <a:avLst/>
          </a:prstGeom>
          <a:solidFill>
            <a:srgbClr val="FDC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wrap="square"/>
          <a:lstStyle/>
          <a:p>
            <a:pPr algn="ctr">
              <a:defRPr sz="900" b="1">
                <a:solidFill>
                  <a:srgbClr val="121222"/>
                </a:solidFill>
                <a:latin typeface="Calibri"/>
              </a:defRPr>
            </a:pPr>
            <a:r>
              <a:t>Screens Built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33087"/>
            <a:ext cx="5303520" cy="5486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37160" wrap="square"/>
          <a:lstStyle/>
          <a:p>
            <a:pPr algn="ctr">
              <a:defRPr sz="1200">
                <a:latin typeface="Calibri"/>
              </a:defRPr>
            </a:pPr>
            <a:r>
              <a:rPr sz="1100" b="1">
                <a:solidFill>
                  <a:srgbClr val="888899"/>
                </a:solidFill>
                <a:latin typeface="Calibri"/>
              </a:rPr>
              <a:t>  1E  </a:t>
            </a:r>
            <a:r>
              <a:rPr sz="1200">
                <a:solidFill>
                  <a:srgbClr val="FFFFFF"/>
                </a:solidFill>
                <a:latin typeface="Calibri"/>
              </a:rPr>
              <a:t>  Community 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4224527"/>
            <a:ext cx="1188720" cy="347472"/>
          </a:xfrm>
          <a:prstGeom prst="roundRect">
            <a:avLst/>
          </a:prstGeom>
          <a:solidFill>
            <a:srgbClr val="FDC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wrap="square"/>
          <a:lstStyle/>
          <a:p>
            <a:pPr algn="ctr">
              <a:defRPr sz="900" b="1">
                <a:solidFill>
                  <a:srgbClr val="121222"/>
                </a:solidFill>
                <a:latin typeface="Calibri"/>
              </a:defRPr>
            </a:pPr>
            <a:r>
              <a:t>Backend 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800600"/>
            <a:ext cx="5303520" cy="5486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37160" wrap="square"/>
          <a:lstStyle/>
          <a:p>
            <a:pPr algn="ctr">
              <a:defRPr sz="1200">
                <a:latin typeface="Calibri"/>
              </a:defRPr>
            </a:pPr>
            <a:r>
              <a:rPr sz="1100" b="1">
                <a:solidFill>
                  <a:srgbClr val="888899"/>
                </a:solidFill>
                <a:latin typeface="Calibri"/>
              </a:rPr>
              <a:t>  1F  </a:t>
            </a:r>
            <a:r>
              <a:rPr sz="1200">
                <a:solidFill>
                  <a:srgbClr val="FFFFFF"/>
                </a:solidFill>
                <a:latin typeface="Calibri"/>
              </a:rPr>
              <a:t>  Creative Search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4892040"/>
            <a:ext cx="1188720" cy="347472"/>
          </a:xfrm>
          <a:prstGeom prst="roundRect">
            <a:avLst/>
          </a:prstGeom>
          <a:solidFill>
            <a:srgbClr val="FDC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wrap="square"/>
          <a:lstStyle/>
          <a:p>
            <a:pPr algn="ctr">
              <a:defRPr sz="900" b="1">
                <a:solidFill>
                  <a:srgbClr val="121222"/>
                </a:solidFill>
                <a:latin typeface="Calibri"/>
              </a:defRPr>
            </a:pPr>
            <a:r>
              <a:t>Backend Only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468112"/>
            <a:ext cx="5303520" cy="5486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37160" wrap="square"/>
          <a:lstStyle/>
          <a:p>
            <a:pPr algn="ctr">
              <a:defRPr sz="1200">
                <a:latin typeface="Calibri"/>
              </a:defRPr>
            </a:pPr>
            <a:r>
              <a:rPr sz="1100" b="1">
                <a:solidFill>
                  <a:srgbClr val="888899"/>
                </a:solidFill>
                <a:latin typeface="Calibri"/>
              </a:rPr>
              <a:t>  2A  </a:t>
            </a:r>
            <a:r>
              <a:rPr sz="1200">
                <a:solidFill>
                  <a:srgbClr val="FFFFFF"/>
                </a:solidFill>
                <a:latin typeface="Calibri"/>
              </a:rPr>
              <a:t>  Admin App - Foundation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5559552"/>
            <a:ext cx="1188720" cy="347472"/>
          </a:xfrm>
          <a:prstGeom prst="round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wrap="square"/>
          <a:lstStyle/>
          <a:p>
            <a:pPr algn="ctr">
              <a:defRPr sz="900" b="1">
                <a:solidFill>
                  <a:srgbClr val="121222"/>
                </a:solidFill>
                <a:latin typeface="Calibri"/>
              </a:defRPr>
            </a:pPr>
            <a:r>
              <a:t>Complete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463040"/>
            <a:ext cx="5303520" cy="5486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37160" wrap="square"/>
          <a:lstStyle/>
          <a:p>
            <a:pPr algn="ctr">
              <a:defRPr sz="1200">
                <a:latin typeface="Calibri"/>
              </a:defRPr>
            </a:pPr>
            <a:r>
              <a:rPr sz="1100" b="1">
                <a:solidFill>
                  <a:srgbClr val="888899"/>
                </a:solidFill>
                <a:latin typeface="Calibri"/>
              </a:rPr>
              <a:t>  2B  </a:t>
            </a:r>
            <a:r>
              <a:rPr sz="1200">
                <a:solidFill>
                  <a:srgbClr val="FFFFFF"/>
                </a:solidFill>
                <a:latin typeface="Calibri"/>
              </a:rPr>
              <a:t>  Admin App - Event Mgmt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49840" y="1554480"/>
            <a:ext cx="1188720" cy="347472"/>
          </a:xfrm>
          <a:prstGeom prst="round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wrap="square"/>
          <a:lstStyle/>
          <a:p>
            <a:pPr algn="ctr">
              <a:defRPr sz="900" b="1">
                <a:solidFill>
                  <a:srgbClr val="121222"/>
                </a:solidFill>
                <a:latin typeface="Calibri"/>
              </a:defRPr>
            </a:pPr>
            <a:r>
              <a:t>Complete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130552"/>
            <a:ext cx="5303520" cy="5486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37160" wrap="square"/>
          <a:lstStyle/>
          <a:p>
            <a:pPr algn="ctr">
              <a:defRPr sz="1200">
                <a:latin typeface="Calibri"/>
              </a:defRPr>
            </a:pPr>
            <a:r>
              <a:rPr sz="1100" b="1">
                <a:solidFill>
                  <a:srgbClr val="888899"/>
                </a:solidFill>
                <a:latin typeface="Calibri"/>
              </a:rPr>
              <a:t>  2C  </a:t>
            </a:r>
            <a:r>
              <a:rPr sz="1200">
                <a:solidFill>
                  <a:srgbClr val="FFFFFF"/>
                </a:solidFill>
                <a:latin typeface="Calibri"/>
              </a:rPr>
              <a:t>  Admin App - Sponsor Mgmt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49840" y="2221992"/>
            <a:ext cx="1188720" cy="347472"/>
          </a:xfrm>
          <a:prstGeom prst="round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wrap="square"/>
          <a:lstStyle/>
          <a:p>
            <a:pPr algn="ctr">
              <a:defRPr sz="900" b="1">
                <a:solidFill>
                  <a:srgbClr val="121222"/>
                </a:solidFill>
                <a:latin typeface="Calibri"/>
              </a:defRPr>
            </a:pPr>
            <a:r>
              <a:t>Complete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798064"/>
            <a:ext cx="5303520" cy="5486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37160" wrap="square"/>
          <a:lstStyle/>
          <a:p>
            <a:pPr algn="ctr">
              <a:defRPr sz="1200">
                <a:latin typeface="Calibri"/>
              </a:defRPr>
            </a:pPr>
            <a:r>
              <a:rPr sz="1100" b="1">
                <a:solidFill>
                  <a:srgbClr val="888899"/>
                </a:solidFill>
                <a:latin typeface="Calibri"/>
              </a:rPr>
              <a:t>  2D  </a:t>
            </a:r>
            <a:r>
              <a:rPr sz="1200">
                <a:solidFill>
                  <a:srgbClr val="FFFFFF"/>
                </a:solidFill>
                <a:latin typeface="Calibri"/>
              </a:rPr>
              <a:t>  Admin App - Vendor Mgmt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40" y="2889504"/>
            <a:ext cx="1188720" cy="347472"/>
          </a:xfrm>
          <a:prstGeom prst="round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wrap="square"/>
          <a:lstStyle/>
          <a:p>
            <a:pPr algn="ctr">
              <a:defRPr sz="900" b="1">
                <a:solidFill>
                  <a:srgbClr val="121222"/>
                </a:solidFill>
                <a:latin typeface="Calibri"/>
              </a:defRPr>
            </a:pPr>
            <a:r>
              <a:t>Complete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465576"/>
            <a:ext cx="5303520" cy="5486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37160" wrap="square"/>
          <a:lstStyle/>
          <a:p>
            <a:pPr algn="ctr">
              <a:defRPr sz="1200">
                <a:latin typeface="Calibri"/>
              </a:defRPr>
            </a:pPr>
            <a:r>
              <a:rPr sz="1100" b="1">
                <a:solidFill>
                  <a:srgbClr val="888899"/>
                </a:solidFill>
                <a:latin typeface="Calibri"/>
              </a:rPr>
              <a:t>  2E  </a:t>
            </a:r>
            <a:r>
              <a:rPr sz="1200">
                <a:solidFill>
                  <a:srgbClr val="FFFFFF"/>
                </a:solidFill>
                <a:latin typeface="Calibri"/>
              </a:rPr>
              <a:t>  Admin App - Moderation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49840" y="3557016"/>
            <a:ext cx="1188720" cy="347472"/>
          </a:xfrm>
          <a:prstGeom prst="roundRect">
            <a:avLst/>
          </a:prstGeom>
          <a:solidFill>
            <a:srgbClr val="FDC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wrap="square"/>
          <a:lstStyle/>
          <a:p>
            <a:pPr algn="ctr">
              <a:defRPr sz="900" b="1">
                <a:solidFill>
                  <a:srgbClr val="121222"/>
                </a:solidFill>
                <a:latin typeface="Calibri"/>
              </a:defRPr>
            </a:pPr>
            <a:r>
              <a:t>Screens Built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133087"/>
            <a:ext cx="5303520" cy="5486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37160" wrap="square"/>
          <a:lstStyle/>
          <a:p>
            <a:pPr algn="ctr">
              <a:defRPr sz="1200">
                <a:latin typeface="Calibri"/>
              </a:defRPr>
            </a:pPr>
            <a:r>
              <a:rPr sz="1100" b="1">
                <a:solidFill>
                  <a:srgbClr val="888899"/>
                </a:solidFill>
                <a:latin typeface="Calibri"/>
              </a:rPr>
              <a:t>  --  </a:t>
            </a:r>
            <a:r>
              <a:rPr sz="1200">
                <a:solidFill>
                  <a:srgbClr val="FFFFFF"/>
                </a:solidFill>
                <a:latin typeface="Calibri"/>
              </a:rPr>
              <a:t>  Adversarial Review &amp; Decisions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49840" y="4224527"/>
            <a:ext cx="1188720" cy="347472"/>
          </a:xfrm>
          <a:prstGeom prst="round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wrap="square"/>
          <a:lstStyle/>
          <a:p>
            <a:pPr algn="ctr">
              <a:defRPr sz="900" b="1">
                <a:solidFill>
                  <a:srgbClr val="121222"/>
                </a:solidFill>
                <a:latin typeface="Calibri"/>
              </a:defRPr>
            </a:pPr>
            <a:r>
              <a:t>Complete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800600"/>
            <a:ext cx="5303520" cy="5486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37160" wrap="square"/>
          <a:lstStyle/>
          <a:p>
            <a:pPr algn="ctr">
              <a:defRPr sz="1200">
                <a:latin typeface="Calibri"/>
              </a:defRPr>
            </a:pPr>
            <a:r>
              <a:rPr sz="1100" b="1">
                <a:solidFill>
                  <a:srgbClr val="888899"/>
                </a:solidFill>
                <a:latin typeface="Calibri"/>
              </a:rPr>
              <a:t>  3  </a:t>
            </a:r>
            <a:r>
              <a:rPr sz="1200">
                <a:solidFill>
                  <a:srgbClr val="FFFFFF"/>
                </a:solidFill>
                <a:latin typeface="Calibri"/>
              </a:rPr>
              <a:t>  Community Feed + Engagement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49840" y="4892040"/>
            <a:ext cx="1188720" cy="347472"/>
          </a:xfrm>
          <a:prstGeom prst="roundRect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wrap="square"/>
          <a:lstStyle/>
          <a:p>
            <a:pPr algn="ctr">
              <a:defRPr sz="900" b="1">
                <a:solidFill>
                  <a:srgbClr val="121222"/>
                </a:solidFill>
                <a:latin typeface="Calibri"/>
              </a:defRPr>
            </a:pPr>
            <a:r>
              <a:t>Planned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Strategic Decisions (from Adversarial Review)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8 strategic questions resolved during requirements-vs-reality audit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08760"/>
          <a:ext cx="80467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393192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Implication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Invite-only or open?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Open registration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Events list = marketing funnel; verification ladder = trust gate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Posh webhook creates users?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 -- auto-link by phone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Users create own accounts; Posh orders reconciled on registration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Verification feature gating?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 -- backend required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requireVerified middleware gates community board, perks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Who's Going / Who's Here?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Build behind feature flag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Product owner decides visibility; avoids selective attendance concern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Server-side connection validation?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Defer (low risk now)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Client-side gate sufficient at current scale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Activation code time window?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Event lifecycle IS the gate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 code_valid_start/end columns needed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Market area filtering?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Add to events + users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market_area enum; default to user's home market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Sponsor/vendor/perks model?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Deferred to product owner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 CRUD adequate for MVP; details TBD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Current Work &amp; What's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41148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28600" wrap="square"/>
          <a:lstStyle/>
          <a:p>
            <a:pPr algn="l">
              <a:defRPr sz="1800" b="1">
                <a:solidFill>
                  <a:srgbClr val="00B894"/>
                </a:solidFill>
                <a:latin typeface="Calibri"/>
              </a:defRPr>
            </a:pPr>
            <a:r>
              <a:t>Recently Completed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Instant QR connections with celebration overlay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Real-time connection notifications (polling)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Ticket-gated check-in system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Admin ticket management (issue, refund, delete)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JWT auto-refresh (15-min token lifecycle)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Remember-me login persistence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Adversarial review: 8 decisions, 30 issues tracked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Social network analysis &amp; sponsor revenue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303520" cy="41148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28600" wrap="square"/>
          <a:lstStyle/>
          <a:p>
            <a:pPr algn="l">
              <a:defRPr sz="1800" b="1">
                <a:solidFill>
                  <a:srgbClr val="A296F0"/>
                </a:solidFill>
                <a:latin typeface="Calibri"/>
              </a:defRPr>
            </a:pPr>
            <a:r>
              <a:t>Up Next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100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  Wire community feed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     Backend exists; connect Flutter UI to real data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  Push notifications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     FCM/APNs for events, connections, feed activity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3.  Verification gating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     Backend middleware to gate community + perks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4.  Connection-only DMs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     Messaging between people who physically met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5.  Redemption tracking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     Prove sponsor ROI: track discount code usage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MVP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33 requirements items: 13 done, 5 partial-adequate, 7 tracked, 2 retired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92024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wrap="square"/>
          <a:lstStyle/>
          <a:p>
            <a:pPr algn="l">
              <a:defRPr sz="3200" b="1">
                <a:solidFill>
                  <a:srgbClr val="00B894"/>
                </a:solidFill>
                <a:latin typeface="Calibri"/>
              </a:defRPr>
            </a:pPr>
            <a:r>
              <a:t>55%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Done or Adequate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1371600"/>
            <a:ext cx="192024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wrap="square"/>
          <a:lstStyle/>
          <a:p>
            <a:pPr algn="l">
              <a:defRPr sz="3200" b="1">
                <a:solidFill>
                  <a:srgbClr val="6C5CE7"/>
                </a:solidFill>
                <a:latin typeface="Calibri"/>
              </a:defRPr>
            </a:pPr>
            <a:r>
              <a:t>85%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Resolved or Tracked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371600"/>
            <a:ext cx="192024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wrap="square"/>
          <a:lstStyle/>
          <a:p>
            <a:pPr algn="l">
              <a:defRPr sz="3200" b="1">
                <a:solidFill>
                  <a:srgbClr val="A296F0"/>
                </a:solidFill>
                <a:latin typeface="Calibri"/>
              </a:defRPr>
            </a:pPr>
            <a:r>
              <a:t>30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GitHub Issues Tracked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371600"/>
            <a:ext cx="192024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wrap="square"/>
          <a:lstStyle/>
          <a:p>
            <a:pPr algn="l">
              <a:defRPr sz="3200" b="1">
                <a:solidFill>
                  <a:srgbClr val="FDCB6E"/>
                </a:solidFill>
                <a:latin typeface="Calibri"/>
              </a:defRPr>
            </a:pPr>
            <a:r>
              <a:t>8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Strategic Decisions Made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10972800" cy="3383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28600" wrap="square"/>
          <a:lstStyle/>
          <a:p>
            <a:pPr algn="l">
              <a:defRPr sz="1600" b="1">
                <a:solidFill>
                  <a:srgbClr val="A296F0"/>
                </a:solidFill>
                <a:latin typeface="Calibri"/>
              </a:defRPr>
            </a:pPr>
            <a:r>
              <a:t>Key Remaining Gaps (tracked in GitHub)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  #18:  Wire community feed to API  --  P0 -- highest retention impact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  #14:  Verification-based feature gating  --  P1 -- gates community + perks access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  #12-13:  Posh phone normalization + auto-link  --  P1 -- enables walk-in ticket flow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  #20:  Pre-MVP security review  --  Required before public launch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  New:  Push notifications  --  P0 -- no way to pull users back between events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  New:  Discount redemption tracking  --  P1 -- enables Tier 2 sponsor revenue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  New:  Connection-only DMs  --  P1 -- biggest functional gap for retention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Calibri"/>
              </a:defRPr>
            </a:pPr>
            <a:r>
              <a:t>In 18 days, we have built: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A complete backend API with 11 route modules, dual JWT auth, and 3 external integrations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A 22-table PostgreSQL database with 4 migrations, full audit trail, and analytics schema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A social app with QR-based instant connections, real-time notifications, and ticket-gated check-in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An admin app with full event lifecycle, image management, ticket management, and publish gate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A shared Dart package with 9 models, 7 API clients, and reusable utilities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Production AWS infrastructure (EKS, RDS, ECR, S3, SSL) with cost-optimization tooling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A comprehensive adversarial review with 8 strategic decisions and 30 tracked issues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A social network analysis with 3-tier sponsor revenue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760720"/>
            <a:ext cx="3657600" cy="254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~17,000 lines of code  |  120+ files  |  March 02,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